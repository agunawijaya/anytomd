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/>
              <a:t>PROGRAM TABUNGAN ANGGOTA</a:t>
            </a:r>
            <a:br/>
            <a:r>
              <a:rPr sz="2400"/>
              <a:t>Tahun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/>
              <a:t>Tujuan:</a:t>
            </a:r>
          </a:p>
          <a:p>
            <a:pPr>
              <a:buNone/>
            </a:pPr>
            <a:r>
              <a:rPr sz="1600"/>
              <a:t>Menjaga layanan tetap berjalan.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56032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sz="1600"/>
              <a:t>Biaya operasional naik</a:t>
            </a:r>
          </a:p>
          <a:p>
            <a:pPr marL="621030" indent="-262255">
              <a:buFont typeface="Arial"/>
              <a:buChar char="•"/>
            </a:pPr>
            <a:r>
              <a:rPr sz="1600"/>
              <a:t>Harga bahan naik</a:t>
            </a:r>
          </a:p>
          <a:p>
            <a:pPr marL="621030" indent="-262255">
              <a:buFont typeface="Arial"/>
              <a:buChar char="•"/>
            </a:pPr>
            <a:r>
              <a:rPr sz="1600"/>
              <a:t>Upah naik</a:t>
            </a:r>
          </a:p>
          <a:p>
            <a:pPr/>
            <a:r>
              <a:rPr sz="1600"/>
              <a:t>2.   Kewajiban lama besar</a:t>
            </a:r>
          </a:p>
          <a:p>
            <a:pPr marL="358775">
              <a:buNone/>
            </a:pPr>
            <a:r>
              <a:rPr sz="1600"/>
              <a:t>Penjelasan kewajiban lama.</a:t>
            </a:r>
          </a:p>
          <a:p>
            <a:pPr>
              <a:buNone/>
            </a:pPr>
            <a:r>
              <a:rPr sz="1600"/>
              <a:t>3.   Aset habis tahun 2030</a:t>
            </a:r>
          </a:p>
          <a:p>
            <a:pPr marL="358775">
              <a:buNone/>
            </a:pPr>
            <a:r>
              <a:rPr sz="1600"/>
              <a:t>Penjelasan 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/>
              <a:t>Hal.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 KOLOM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b="1"/>
              <a:t>KIRI SATU</a:t>
            </a:r>
          </a:p>
          <a:p>
            <a:pPr>
              <a:buNone/>
            </a:pPr>
            <a:r>
              <a:rPr sz="1600"/>
              <a:t>Isi kiri satu.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b="1"/>
              <a:t>KIRI DUA</a:t>
            </a:r>
          </a:p>
          <a:p>
            <a:pPr>
              <a:buNone/>
            </a:pPr>
            <a:r>
              <a:rPr sz="1600"/>
              <a:t>Isi kiri dua.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b="1"/>
              <a:t>KIRI TIGA</a:t>
            </a:r>
          </a:p>
          <a:p>
            <a:pPr>
              <a:buNone/>
            </a:pPr>
            <a:r>
              <a:rPr sz="1600"/>
              <a:t>Isi kiri tiga.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945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b="1"/>
              <a:t>KANAN SATU</a:t>
            </a:r>
          </a:p>
          <a:p>
            <a:pPr>
              <a:buNone/>
            </a:pPr>
            <a:r>
              <a:rPr sz="1600"/>
              <a:t>Isi kanan satu.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4114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Tahun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Nilai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18,40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17,95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/>
              <a:t>ALUR PROGRAM TABUNGAN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2011680"/>
            <a:ext cx="1828800" cy="548640"/>
          </a:xfrm>
          <a:prstGeom prst="rect">
            <a:avLst/>
          </a:prstGeom>
          <a:noFill/>
          <a:ln>
            <a:solidFill>
              <a:srgbClr val="1F4E78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sz="1600"/>
              <a:t>Program Tabungan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011680"/>
            <a:ext cx="1463040" cy="548640"/>
          </a:xfrm>
          <a:prstGeom prst="rect">
            <a:avLst/>
          </a:prstGeom>
          <a:noFill/>
          <a:ln>
            <a:solidFill>
              <a:srgbClr val="1F4E78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sz="1600"/>
              <a:t>Bersifat opsional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822960"/>
            <a:ext cx="1828800" cy="548640"/>
          </a:xfrm>
          <a:prstGeom prst="rect">
            <a:avLst/>
          </a:prstGeom>
          <a:noFill/>
          <a:ln>
            <a:solidFill>
              <a:srgbClr val="1F4E78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sz="1600"/>
              <a:t>Anggota 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108960"/>
            <a:ext cx="1828800" cy="548640"/>
          </a:xfrm>
          <a:prstGeom prst="rect">
            <a:avLst/>
          </a:prstGeom>
          <a:noFill/>
          <a:ln>
            <a:solidFill>
              <a:srgbClr val="1F4E78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sz="1600"/>
              <a:t>Anggota Baru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822960"/>
            <a:ext cx="1645920" cy="548640"/>
          </a:xfrm>
          <a:prstGeom prst="rect">
            <a:avLst/>
          </a:prstGeom>
          <a:noFill/>
          <a:ln>
            <a:solidFill>
              <a:srgbClr val="1F4E78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sz="1600"/>
              <a:t>Pencairan Tunai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108960"/>
            <a:ext cx="1645920" cy="548640"/>
          </a:xfrm>
          <a:prstGeom prst="rect">
            <a:avLst/>
          </a:prstGeom>
          <a:noFill/>
          <a:ln>
            <a:solidFill>
              <a:srgbClr val="1F4E78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sz="1600"/>
              <a:t>Pindah ke Reksa Dana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280160"/>
            <a:ext cx="2377440" cy="548640"/>
          </a:xfrm>
          <a:prstGeom prst="rect">
            <a:avLst/>
          </a:prstGeom>
          <a:noFill/>
          <a:ln>
            <a:solidFill>
              <a:srgbClr val="1F4E78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sz="1600"/>
              <a:t>Target: 50% peserta ikut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566160"/>
            <a:ext cx="2377440" cy="548640"/>
          </a:xfrm>
          <a:prstGeom prst="rect">
            <a:avLst/>
          </a:prstGeom>
          <a:noFill/>
          <a:ln>
            <a:solidFill>
              <a:srgbClr val="1F4E78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sz="1600"/>
              <a:t>EVALUASI</a:t>
            </a:r>
          </a:p>
        </p:txBody>
      </p:sp>
      <p:cxnSp>
        <p:nvCxnSpPr>
          <p:cNvPr id="11" name="Connector 10"/>
          <p:cNvCxnSpPr>
            <a:stCxn id="3" idx="3"/>
            <a:endCxn id="4" idx="1"/>
          </p:cNvCxnSpPr>
          <p:nvPr/>
        </p:nvCxnSpPr>
        <p:spPr>
          <a:xfrm flipV="1">
            <a:off x="2011680" y="2286000"/>
            <a:ext cx="36576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4" idx="3"/>
            <a:endCxn id="5" idx="1"/>
          </p:cNvCxnSpPr>
          <p:nvPr/>
        </p:nvCxnSpPr>
        <p:spPr>
          <a:xfrm flipV="1">
            <a:off x="3840480" y="1097280"/>
            <a:ext cx="365760" cy="11887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4" idx="3"/>
            <a:endCxn id="6" idx="1"/>
          </p:cNvCxnSpPr>
          <p:nvPr/>
        </p:nvCxnSpPr>
        <p:spPr>
          <a:xfrm>
            <a:off x="3840480" y="2286000"/>
            <a:ext cx="365760" cy="10972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5" idx="3"/>
            <a:endCxn id="7" idx="1"/>
          </p:cNvCxnSpPr>
          <p:nvPr/>
        </p:nvCxnSpPr>
        <p:spPr>
          <a:xfrm flipV="1">
            <a:off x="6035040" y="1097280"/>
            <a:ext cx="73152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6" idx="3"/>
            <a:endCxn id="8" idx="1"/>
          </p:cNvCxnSpPr>
          <p:nvPr/>
        </p:nvCxnSpPr>
        <p:spPr>
          <a:xfrm flipV="1">
            <a:off x="6035040" y="3383280"/>
            <a:ext cx="73152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7" idx="3"/>
            <a:endCxn id="9" idx="1"/>
          </p:cNvCxnSpPr>
          <p:nvPr/>
        </p:nvCxnSpPr>
        <p:spPr>
          <a:xfrm>
            <a:off x="8412480" y="1097280"/>
            <a:ext cx="1005840" cy="4572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8" idx="3"/>
            <a:endCxn id="9" idx="1"/>
          </p:cNvCxnSpPr>
          <p:nvPr/>
        </p:nvCxnSpPr>
        <p:spPr>
          <a:xfrm flipV="1">
            <a:off x="8412480" y="1554480"/>
            <a:ext cx="1005840" cy="18288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72200" y="502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/>
              <a:t>ya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0332720" y="1920240"/>
            <a:ext cx="548640" cy="1554480"/>
          </a:xfrm>
          <a:prstGeom prst="downArrow">
            <a:avLst/>
          </a:prstGeom>
          <a:solidFill>
            <a:srgbClr val="1F77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937760"/>
            <a:ext cx="822960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81328" y="5010912"/>
            <a:ext cx="630936" cy="36576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>
            <a:spAutoFit/>
          </a:bodyPr>
          <a:lstStyle/>
          <a:p>
            <a:pPr>
              <a:buNone/>
            </a:pPr>
            <a:r>
              <a:rPr sz="1800"/>
              <a:t>Baru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